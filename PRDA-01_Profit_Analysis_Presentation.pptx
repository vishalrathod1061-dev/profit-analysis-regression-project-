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644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thod Vishal" userId="e8f617af54705053" providerId="LiveId" clId="{CF89C295-0083-43D1-890F-BE88ABBEFB67}"/>
    <pc:docChg chg="undo custSel addSld delSld modSld">
      <pc:chgData name="Rathod Vishal" userId="e8f617af54705053" providerId="LiveId" clId="{CF89C295-0083-43D1-890F-BE88ABBEFB67}" dt="2026-10-28T11:46:32.738" v="233" actId="1076"/>
      <pc:docMkLst>
        <pc:docMk/>
      </pc:docMkLst>
      <pc:sldChg chg="delSp del mod">
        <pc:chgData name="Rathod Vishal" userId="e8f617af54705053" providerId="LiveId" clId="{CF89C295-0083-43D1-890F-BE88ABBEFB67}" dt="2026-10-28T11:37:59.805" v="8" actId="47"/>
        <pc:sldMkLst>
          <pc:docMk/>
          <pc:sldMk cId="0" sldId="261"/>
        </pc:sldMkLst>
        <pc:spChg chg="del">
          <ac:chgData name="Rathod Vishal" userId="e8f617af54705053" providerId="LiveId" clId="{CF89C295-0083-43D1-890F-BE88ABBEFB67}" dt="2026-10-28T11:37:49.807" v="7" actId="478"/>
          <ac:spMkLst>
            <pc:docMk/>
            <pc:sldMk cId="0" sldId="261"/>
            <ac:spMk id="4" creationId="{00000000-0000-0000-0000-000000000000}"/>
          </ac:spMkLst>
        </pc:spChg>
      </pc:sldChg>
      <pc:sldChg chg="addSp delSp modSp mod">
        <pc:chgData name="Rathod Vishal" userId="e8f617af54705053" providerId="LiveId" clId="{CF89C295-0083-43D1-890F-BE88ABBEFB67}" dt="2026-10-28T11:42:59.323" v="202" actId="1076"/>
        <pc:sldMkLst>
          <pc:docMk/>
          <pc:sldMk cId="0" sldId="262"/>
        </pc:sldMkLst>
        <pc:spChg chg="mod">
          <ac:chgData name="Rathod Vishal" userId="e8f617af54705053" providerId="LiveId" clId="{CF89C295-0083-43D1-890F-BE88ABBEFB67}" dt="2026-10-28T11:42:59.323" v="202" actId="1076"/>
          <ac:spMkLst>
            <pc:docMk/>
            <pc:sldMk cId="0" sldId="262"/>
            <ac:spMk id="3" creationId="{00000000-0000-0000-0000-000000000000}"/>
          </ac:spMkLst>
        </pc:spChg>
        <pc:spChg chg="mod">
          <ac:chgData name="Rathod Vishal" userId="e8f617af54705053" providerId="LiveId" clId="{CF89C295-0083-43D1-890F-BE88ABBEFB67}" dt="2026-10-28T11:38:50.462" v="197" actId="255"/>
          <ac:spMkLst>
            <pc:docMk/>
            <pc:sldMk cId="0" sldId="262"/>
            <ac:spMk id="4" creationId="{00000000-0000-0000-0000-000000000000}"/>
          </ac:spMkLst>
        </pc:spChg>
        <pc:spChg chg="add">
          <ac:chgData name="Rathod Vishal" userId="e8f617af54705053" providerId="LiveId" clId="{CF89C295-0083-43D1-890F-BE88ABBEFB67}" dt="2026-10-28T11:35:25.774" v="0"/>
          <ac:spMkLst>
            <pc:docMk/>
            <pc:sldMk cId="0" sldId="262"/>
            <ac:spMk id="5" creationId="{AF857F8A-C06C-6BEB-14DD-D01829F17F38}"/>
          </ac:spMkLst>
        </pc:spChg>
        <pc:spChg chg="add mod">
          <ac:chgData name="Rathod Vishal" userId="e8f617af54705053" providerId="LiveId" clId="{CF89C295-0083-43D1-890F-BE88ABBEFB67}" dt="2026-10-28T11:35:30.232" v="2"/>
          <ac:spMkLst>
            <pc:docMk/>
            <pc:sldMk cId="0" sldId="262"/>
            <ac:spMk id="6" creationId="{27596D87-0CD5-47F9-D989-E61DEAC385F7}"/>
          </ac:spMkLst>
        </pc:spChg>
        <pc:spChg chg="add del mod">
          <ac:chgData name="Rathod Vishal" userId="e8f617af54705053" providerId="LiveId" clId="{CF89C295-0083-43D1-890F-BE88ABBEFB67}" dt="2026-10-28T11:35:47.611" v="6" actId="478"/>
          <ac:spMkLst>
            <pc:docMk/>
            <pc:sldMk cId="0" sldId="262"/>
            <ac:spMk id="7" creationId="{B85B1535-5AA4-6037-499C-53B2268B5263}"/>
          </ac:spMkLst>
        </pc:spChg>
      </pc:sldChg>
      <pc:sldChg chg="addSp delSp modSp new mod">
        <pc:chgData name="Rathod Vishal" userId="e8f617af54705053" providerId="LiveId" clId="{CF89C295-0083-43D1-890F-BE88ABBEFB67}" dt="2026-10-28T11:46:32.738" v="233" actId="1076"/>
        <pc:sldMkLst>
          <pc:docMk/>
          <pc:sldMk cId="1382291066" sldId="263"/>
        </pc:sldMkLst>
        <pc:spChg chg="add del mod">
          <ac:chgData name="Rathod Vishal" userId="e8f617af54705053" providerId="LiveId" clId="{CF89C295-0083-43D1-890F-BE88ABBEFB67}" dt="2026-10-28T11:42:53.679" v="201"/>
          <ac:spMkLst>
            <pc:docMk/>
            <pc:sldMk cId="1382291066" sldId="263"/>
            <ac:spMk id="2" creationId="{123AB86E-5B6E-E41F-046B-FE52A178DC2A}"/>
          </ac:spMkLst>
        </pc:spChg>
        <pc:spChg chg="add mod">
          <ac:chgData name="Rathod Vishal" userId="e8f617af54705053" providerId="LiveId" clId="{CF89C295-0083-43D1-890F-BE88ABBEFB67}" dt="2026-10-28T11:43:23.532" v="206"/>
          <ac:spMkLst>
            <pc:docMk/>
            <pc:sldMk cId="1382291066" sldId="263"/>
            <ac:spMk id="3" creationId="{85A0BCD9-5BDC-F02D-493C-A92B113CD140}"/>
          </ac:spMkLst>
        </pc:spChg>
        <pc:spChg chg="add del mod">
          <ac:chgData name="Rathod Vishal" userId="e8f617af54705053" providerId="LiveId" clId="{CF89C295-0083-43D1-890F-BE88ABBEFB67}" dt="2026-10-28T11:44:32.953" v="215" actId="478"/>
          <ac:spMkLst>
            <pc:docMk/>
            <pc:sldMk cId="1382291066" sldId="263"/>
            <ac:spMk id="4" creationId="{A120EE4F-A41C-F3CF-0B5F-2EE696E740A5}"/>
          </ac:spMkLst>
        </pc:spChg>
        <pc:spChg chg="add mod">
          <ac:chgData name="Rathod Vishal" userId="e8f617af54705053" providerId="LiveId" clId="{CF89C295-0083-43D1-890F-BE88ABBEFB67}" dt="2026-10-28T11:43:59.135" v="212" actId="14100"/>
          <ac:spMkLst>
            <pc:docMk/>
            <pc:sldMk cId="1382291066" sldId="263"/>
            <ac:spMk id="5" creationId="{EAB95347-5E4B-1ED3-3975-8E6CC584B8DC}"/>
          </ac:spMkLst>
        </pc:spChg>
        <pc:spChg chg="add">
          <ac:chgData name="Rathod Vishal" userId="e8f617af54705053" providerId="LiveId" clId="{CF89C295-0083-43D1-890F-BE88ABBEFB67}" dt="2026-10-28T11:44:10.076" v="214"/>
          <ac:spMkLst>
            <pc:docMk/>
            <pc:sldMk cId="1382291066" sldId="263"/>
            <ac:spMk id="6" creationId="{F038906D-D6B3-F2B0-F90B-14DB389FEA96}"/>
          </ac:spMkLst>
        </pc:spChg>
        <pc:spChg chg="add mod">
          <ac:chgData name="Rathod Vishal" userId="e8f617af54705053" providerId="LiveId" clId="{CF89C295-0083-43D1-890F-BE88ABBEFB67}" dt="2026-10-28T11:46:32.738" v="233" actId="1076"/>
          <ac:spMkLst>
            <pc:docMk/>
            <pc:sldMk cId="1382291066" sldId="263"/>
            <ac:spMk id="7" creationId="{7BAE6189-A44C-D0B9-2901-C12D8400C74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STARTUP PROFIT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0"/>
            <a:ext cx="9875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DCEBFA"/>
                </a:solidFill>
              </a:defRPr>
            </a:pPr>
            <a:r>
              <a:t>PRDA–01 | Regression Analysis &amp; Power BI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39496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Dataset: 50 startups • New York, Florida &amp; California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A62"/>
                </a:solidFill>
              </a:defRPr>
            </a:pPr>
            <a:r>
              <a:t>1. Problem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C"/>
                </a:solidFill>
              </a:defRPr>
            </a:pPr>
            <a:r>
              <a:t>How do R&amp;D, Administration and Marketing spending relate to startup profit?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232D3C"/>
                </a:solidFill>
              </a:defRPr>
            </a:pPr>
            <a:r>
              <a:t>Analyze profit across three states: New York, Florida and California.</a:t>
            </a:r>
          </a:p>
          <a:p>
            <a:pPr>
              <a:spcAft>
                <a:spcPts val="1300"/>
              </a:spcAft>
              <a:defRPr sz="2200">
                <a:solidFill>
                  <a:srgbClr val="232D3C"/>
                </a:solidFill>
              </a:defRPr>
            </a:pPr>
            <a:r>
              <a:t>Explore spending-versus-profit patterns for R&amp;D, Administration and Marketing.</a:t>
            </a:r>
          </a:p>
          <a:p>
            <a:pPr>
              <a:spcAft>
                <a:spcPts val="1300"/>
              </a:spcAft>
              <a:defRPr sz="2200">
                <a:solidFill>
                  <a:srgbClr val="232D3C"/>
                </a:solidFill>
              </a:defRPr>
            </a:pPr>
            <a:r>
              <a:t>Use regression analysis to estimate profit from spending inputs.</a:t>
            </a:r>
          </a:p>
          <a:p>
            <a:pPr>
              <a:spcAft>
                <a:spcPts val="1300"/>
              </a:spcAft>
              <a:defRPr sz="2200">
                <a:solidFill>
                  <a:srgbClr val="232D3C"/>
                </a:solidFill>
              </a:defRPr>
            </a:pPr>
            <a:r>
              <a:t>Communicate findings and business recommendations through Power BI.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A62"/>
                </a:solidFill>
              </a:defRPr>
            </a:pPr>
            <a:r>
              <a:t>2. 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C"/>
                </a:solidFill>
              </a:defRPr>
            </a:pPr>
            <a:r>
              <a:t>The assignment brief describes 50 startup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R&amp;D Spend — investment in research and development.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Administration — administration-related spending.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Marketing Spend — investment in marketing activities.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State — startup location.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Profit — target variable to be explained or predicted.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A62"/>
                </a:solidFill>
              </a:defRPr>
            </a:pPr>
            <a:r>
              <a:t>3. Power BI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C"/>
                </a:solidFill>
              </a:defRPr>
            </a:pPr>
            <a:r>
              <a:t>Dashboard screenshot supplied for PRDA–01</a:t>
            </a:r>
          </a:p>
        </p:txBody>
      </p:sp>
      <p:pic>
        <p:nvPicPr>
          <p:cNvPr id="5" name="Picture 4" descr="1dd9dba2-69d6-49a2-aa62-7e96d838af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06424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A62"/>
                </a:solidFill>
              </a:defRPr>
            </a:pPr>
            <a:r>
              <a:t>4. Key Results &amp;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C"/>
                </a:solidFill>
              </a:defRPr>
            </a:pPr>
            <a:r>
              <a:t>Values below are read from the supplied dashboard.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256032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232D3C"/>
                </a:solidFill>
              </a:defRPr>
            </a:pPr>
            <a:r>
              <a:t>Total Startups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50</a:t>
            </a:r>
          </a:p>
        </p:txBody>
      </p:sp>
      <p:sp>
        <p:nvSpPr>
          <p:cNvPr id="6" name="Rectangle 5"/>
          <p:cNvSpPr/>
          <p:nvPr/>
        </p:nvSpPr>
        <p:spPr>
          <a:xfrm>
            <a:off x="3520439" y="1325880"/>
            <a:ext cx="256032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232D3C"/>
                </a:solidFill>
              </a:defRPr>
            </a:pPr>
            <a:r>
              <a:t>Total Profit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5.60M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25880"/>
            <a:ext cx="256032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232D3C"/>
                </a:solidFill>
              </a:defRPr>
            </a:pPr>
            <a:r>
              <a:t>Average Profit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112.01K</a:t>
            </a:r>
          </a:p>
        </p:txBody>
      </p:sp>
      <p:sp>
        <p:nvSpPr>
          <p:cNvPr id="8" name="Rectangle 7"/>
          <p:cNvSpPr/>
          <p:nvPr/>
        </p:nvSpPr>
        <p:spPr>
          <a:xfrm>
            <a:off x="9281159" y="1325880"/>
            <a:ext cx="256032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232D3C"/>
                </a:solidFill>
              </a:defRPr>
            </a:pPr>
            <a:r>
              <a:t>Average R&amp;D Spend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73.72K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32D3C"/>
                </a:solidFill>
              </a:defRPr>
            </a:pPr>
            <a:r>
              <a:rPr dirty="0"/>
              <a:t>State-wise profit: New York ≈ 1.93M; Florida ≈ 1.90M; California ≈ 1.77M.</a:t>
            </a:r>
          </a:p>
          <a:p>
            <a:pPr>
              <a:spcAft>
                <a:spcPts val="1300"/>
              </a:spcAft>
              <a:defRPr sz="1700">
                <a:solidFill>
                  <a:srgbClr val="232D3C"/>
                </a:solidFill>
              </a:defRPr>
            </a:pPr>
            <a:r>
              <a:rPr dirty="0"/>
              <a:t>R&amp;D and Marketing scatter plots show generally positive associations with profit.</a:t>
            </a:r>
          </a:p>
          <a:p>
            <a:pPr>
              <a:spcAft>
                <a:spcPts val="1300"/>
              </a:spcAft>
              <a:defRPr sz="1700">
                <a:solidFill>
                  <a:srgbClr val="232D3C"/>
                </a:solidFill>
              </a:defRPr>
            </a:pPr>
            <a:r>
              <a:rPr dirty="0"/>
              <a:t>The dashboard's visible regression summary shows a negative Administration coefficient.</a:t>
            </a:r>
          </a:p>
          <a:p>
            <a:pPr>
              <a:spcAft>
                <a:spcPts val="1300"/>
              </a:spcAft>
              <a:defRPr sz="1700">
                <a:solidFill>
                  <a:srgbClr val="232D3C"/>
                </a:solidFill>
              </a:defRPr>
            </a:pPr>
            <a:r>
              <a:rPr dirty="0"/>
              <a:t>R² = 0.9001; MAE = 6,979.15 (as displayed).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A0BCD9-5BDC-F02D-493C-A92B113CD140}"/>
              </a:ext>
            </a:extLst>
          </p:cNvPr>
          <p:cNvSpPr txBox="1"/>
          <p:nvPr/>
        </p:nvSpPr>
        <p:spPr>
          <a:xfrm>
            <a:off x="777240" y="396240"/>
            <a:ext cx="329737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A62"/>
                </a:solidFill>
              </a:defRPr>
            </a:pPr>
            <a:r>
              <a:rPr lang="en-US" dirty="0"/>
              <a:t>5</a:t>
            </a:r>
            <a:r>
              <a:rPr dirty="0"/>
              <a:t>. </a:t>
            </a:r>
            <a:r>
              <a:rPr lang="en-US" dirty="0"/>
              <a:t>Recommendations</a:t>
            </a:r>
            <a:r>
              <a:rPr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AE6189-A44C-D0B9-2901-C12D8400C74E}"/>
              </a:ext>
            </a:extLst>
          </p:cNvPr>
          <p:cNvSpPr txBox="1"/>
          <p:nvPr/>
        </p:nvSpPr>
        <p:spPr>
          <a:xfrm>
            <a:off x="777240" y="1203158"/>
            <a:ext cx="75750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Increase R&amp;D investment to support innovation and profitability.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Optimize administration expenses to improve cost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Monitor marketing spending and evaluate its return on investment.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Compare state-wise profits to identify business opportunities.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regression analysis to support better financial decisions.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291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96240"/>
            <a:ext cx="2173993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A62"/>
                </a:solidFill>
              </a:defRPr>
            </a:pPr>
            <a:r>
              <a:rPr dirty="0"/>
              <a:t>6. Conclusion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2D3C"/>
                </a:solidFill>
              </a:defRPr>
            </a:pPr>
            <a:r>
              <a:rPr lang="en-US" sz="2400" dirty="0"/>
              <a:t>This project analyzed the relationship between R&amp;D, Administration, Marketing spending, and startup profit. The regression model achieved an R² score of 0.9001. The analysis indicates that effective spending management and data-driven decisions can help businesses improve profitability</a:t>
            </a:r>
            <a:endParaRPr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328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Rathod Vishal</cp:lastModifiedBy>
  <cp:revision>1</cp:revision>
  <dcterms:created xsi:type="dcterms:W3CDTF">2013-01-27T09:14:16Z</dcterms:created>
  <dcterms:modified xsi:type="dcterms:W3CDTF">2026-10-28T11:46:41Z</dcterms:modified>
  <cp:category/>
</cp:coreProperties>
</file>